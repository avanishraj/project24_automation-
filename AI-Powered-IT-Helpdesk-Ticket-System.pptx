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5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Open Sans" panose="020B0606030504020204" pitchFamily="34" charset="0"/>
      <p:regular r:id="rId8"/>
      <p:bold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974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7B7DF-88A5-F379-B393-D7B4A4AFA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3AA01C-F600-FB52-9544-24ADD145EC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E6544B-E44E-C1D3-86A5-DDF5C9655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E84B7-138B-34BF-2947-95D0F5E86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EDF7E-12DB-F4F4-512A-93B38F577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2779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72B7B-8EEE-A264-4343-F1C559359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94561-E55B-6973-3A01-E949D014C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C046C-8EED-4CAE-F357-C3EAC3D32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741A-53C1-D757-C9F5-4F6AE6FC3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64056-C598-CC3B-6E56-61200094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6877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BE60F-994B-762D-3148-CD4F9A6C0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9E55B-EE75-54B2-C742-E1E5DE4E9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7B66D-EEC3-508F-67D2-4977659C7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61054-CA25-B023-09BD-3B1D9DC04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31E7A-D6F8-1129-68E5-751085145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02858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E088C-A20D-0B6E-8C50-7BD24D726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26B584-B027-143B-9E86-CEACFB702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9564A7-0D03-A240-22C3-608F9E8436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D48C6-BE4B-87B6-5E88-D5E36AB38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68CA27-8B81-1450-9EA4-953C22FE9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113F9-DBE7-EF45-69F1-70625A8A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31373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42D7-B316-13D9-4E73-5ED89D08F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74D4F-058A-8A8A-5DD1-2B985CEF2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01641B-4800-62C4-A05B-AFB19CD78B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9020D6-57EA-5868-4259-3019E24590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EBB64B-FF7C-31F4-1F6E-4D78E71E0B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086EF9-8BE4-27CD-1446-7C749D62E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61B83-C42F-8214-8FBF-79C05A3D4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0E6D0B-B63A-2D6D-5507-C3D34842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72592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5EC1B-DDA6-9519-CFE8-54F0BD208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662F4B-0A37-9992-10B0-9866DD2AD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2FC568-3B2C-1421-9A77-13BD7E790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9680F6-742B-9DEC-6D91-921E25D7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2624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7B384C-2C82-9F3B-9F2C-F7C940AE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216F2B-77CE-7926-4240-D74F487F9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6CFD4-AEA1-99ED-C881-10DCE93C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586744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4A4AF-DD01-27B4-8393-DB6A0BBD8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6318B-E780-E3E6-3598-7C2FCE4029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18C52-ACC0-CEFC-8D36-8DB7C2B2D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CEDF0-1FF4-C35E-04C7-B22510FA5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45A180-D0E0-60C8-CBFC-3D9FEC17A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6D0EDE-DD2E-E48A-D223-14C50F180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38106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7FFA7-4E4D-184A-AC5F-8349EC0C0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6AAE7-4F9F-118E-6EDD-8674CFFDE4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B838A-7FB0-11C4-46FA-6CF8601220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E007A-3C32-EC36-B03F-744E9DF28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3365F6-DEDC-4E9D-D191-5A4F87BFE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75B4C-8149-4678-EC4F-CBB500EAB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4107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EC45F-DB5B-6EFA-113D-A9BA117E4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40AB62-8226-F531-B0B9-4946D0EFC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059DD-0BCD-2BEA-C49F-B83DB1EF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B0414-E775-C1D4-E521-5509243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799BF-5926-6461-B11D-1D768C978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84790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5E107-BD8A-C1D4-791A-B5F48A463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E033B8-5474-BA15-A5CF-A54A9BD33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A4E9C-E09C-5651-8526-A22B92499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4222C-F460-743D-E00D-6416412D7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588FB-6DB7-2B23-20DF-9B424CE64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773847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0021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063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5416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3655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444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8EC4DA-F1F8-7323-B5FD-930EBDCA4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34384-9911-31C4-A8B2-A9565FB86A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F5C4EE-7047-C977-433D-0A776E936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3DA45-4180-404A-8C2B-63184A85121A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775EA-2BCD-6B70-61CA-309315E54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93C80-F8CB-0D06-2FCD-7E8579C03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B612C-52BB-4F61-A52E-38F0A67242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536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103315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AI-Powered IT Helpdesk Ticket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91037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Intelligent ticket classification, automated routing, and supervisor oversight powered by Azure OpenAI and multi-agent resolution workflows</a:t>
            </a:r>
            <a:endParaRPr lang="en-US" sz="17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2A37D9-8890-7F9A-B4E4-62273F81BB39}"/>
              </a:ext>
            </a:extLst>
          </p:cNvPr>
          <p:cNvSpPr txBox="1"/>
          <p:nvPr/>
        </p:nvSpPr>
        <p:spPr>
          <a:xfrm>
            <a:off x="6280189" y="4458751"/>
            <a:ext cx="7315200" cy="154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Name: </a:t>
            </a:r>
            <a:r>
              <a:rPr lang="en-US" sz="1800" dirty="0" err="1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Kodzone</a:t>
            </a:r>
            <a:endParaRPr lang="en-US" sz="1800" dirty="0">
              <a:solidFill>
                <a:srgbClr val="443728"/>
              </a:solidFill>
              <a:latin typeface="Open Sans" pitchFamily="34" charset="0"/>
              <a:ea typeface="Open Sans" pitchFamily="34" charset="-122"/>
              <a:cs typeface="Open Sans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Members:</a:t>
            </a:r>
          </a:p>
          <a:p>
            <a:pPr marL="342900" indent="-342900" algn="l">
              <a:lnSpc>
                <a:spcPts val="2850"/>
              </a:lnSpc>
              <a:buAutoNum type="arabicPeriod"/>
            </a:pPr>
            <a:r>
              <a:rPr lang="en-US" sz="180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Geetika Shekhawat (1405965)</a:t>
            </a:r>
          </a:p>
          <a:p>
            <a:pPr marL="342900" indent="-342900" algn="l">
              <a:lnSpc>
                <a:spcPts val="2850"/>
              </a:lnSpc>
              <a:buAutoNum type="arabicPeriod"/>
            </a:pPr>
            <a:r>
              <a:rPr lang="en-US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Avanish Raj Singh (1406040)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79820" y="546021"/>
            <a:ext cx="6333530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System Architecture Overview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179820" y="1462326"/>
            <a:ext cx="7757160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on FastAPI and LangGraph, our system leverages Azure OpenAI GPT-4o to deliver intelligent ticket processing with human oversight where it matters most.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179820" y="2319099"/>
            <a:ext cx="3779520" cy="2900124"/>
          </a:xfrm>
          <a:prstGeom prst="roundRect">
            <a:avLst>
              <a:gd name="adj" fmla="val 28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385560" y="2524839"/>
            <a:ext cx="594360" cy="594360"/>
          </a:xfrm>
          <a:prstGeom prst="roundRect">
            <a:avLst>
              <a:gd name="adj" fmla="val 15383077"/>
            </a:avLst>
          </a:prstGeom>
          <a:solidFill>
            <a:srgbClr val="835E5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9033" y="2654856"/>
            <a:ext cx="267414" cy="33432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85560" y="3317319"/>
            <a:ext cx="2495431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AI Classification Engine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6385560" y="3745706"/>
            <a:ext cx="3368040" cy="1267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category detection, semantic sub-category matching, and risk assessment based on business impact analysis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10157460" y="2319099"/>
            <a:ext cx="3779520" cy="2900124"/>
          </a:xfrm>
          <a:prstGeom prst="roundRect">
            <a:avLst>
              <a:gd name="adj" fmla="val 2869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363200" y="2524839"/>
            <a:ext cx="594360" cy="594360"/>
          </a:xfrm>
          <a:prstGeom prst="roundRect">
            <a:avLst>
              <a:gd name="adj" fmla="val 15383077"/>
            </a:avLst>
          </a:prstGeom>
          <a:solidFill>
            <a:srgbClr val="835E5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673" y="2654856"/>
            <a:ext cx="267414" cy="33432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63200" y="3317319"/>
            <a:ext cx="2483048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Multi-Agent Resolution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0363200" y="3745706"/>
            <a:ext cx="3368040" cy="1267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three-tier agent system routes tickets based on risk level and authorization, ensuring optimal resource allocation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6179820" y="5417344"/>
            <a:ext cx="7757160" cy="2266236"/>
          </a:xfrm>
          <a:prstGeom prst="roundRect">
            <a:avLst>
              <a:gd name="adj" fmla="val 3672"/>
            </a:avLst>
          </a:prstGeom>
          <a:solidFill>
            <a:srgbClr val="EBE2E0"/>
          </a:solidFill>
          <a:ln w="7620">
            <a:solidFill>
              <a:srgbClr val="D1C8C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385560" y="5623084"/>
            <a:ext cx="594360" cy="594360"/>
          </a:xfrm>
          <a:prstGeom prst="roundRect">
            <a:avLst>
              <a:gd name="adj" fmla="val 15383077"/>
            </a:avLst>
          </a:prstGeom>
          <a:solidFill>
            <a:srgbClr val="835E5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9033" y="5753100"/>
            <a:ext cx="267414" cy="3343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85560" y="6415564"/>
            <a:ext cx="2476500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Supervisor Dashboard</a:t>
            </a:r>
            <a:endParaRPr lang="en-US" sz="1950" dirty="0"/>
          </a:p>
        </p:txBody>
      </p:sp>
      <p:sp>
        <p:nvSpPr>
          <p:cNvPr id="19" name="Text 13"/>
          <p:cNvSpPr/>
          <p:nvPr/>
        </p:nvSpPr>
        <p:spPr>
          <a:xfrm>
            <a:off x="6385560" y="6843951"/>
            <a:ext cx="7345680" cy="633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oversight for high-risk tickets with approval workflows, manual override capabilities, and complete audit trails</a:t>
            </a:r>
            <a:endParaRPr lang="en-US" sz="15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09CB0C-98AF-3130-E7E6-2E284DDFD6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9794" y="0"/>
            <a:ext cx="471929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7077" y="335637"/>
            <a:ext cx="3867864" cy="381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Four-Phase Workflow Process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077" y="961073"/>
            <a:ext cx="6888123" cy="488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9116" y="1571268"/>
            <a:ext cx="152554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Query Processing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9116" y="1835110"/>
            <a:ext cx="664404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analyzes user input to determine category, sub-category, risk level, and authorization status with confidence scoring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961073"/>
            <a:ext cx="6888123" cy="488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37239" y="1571268"/>
            <a:ext cx="152554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Agent Routing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437239" y="1835110"/>
            <a:ext cx="6644045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route to Low, Medium, or High Risk agents based on authorization and script availability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77" y="2347674"/>
            <a:ext cx="6888123" cy="488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9116" y="2957870"/>
            <a:ext cx="152554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Supervisor Review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49116" y="3221712"/>
            <a:ext cx="6644045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High-risk tickets require supervisor action: auto-resolution, manual override, or rejection with justification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2347674"/>
            <a:ext cx="6888123" cy="4881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37239" y="2957870"/>
            <a:ext cx="1525548" cy="190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Resolution &amp; Feedback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437239" y="3221712"/>
            <a:ext cx="6644045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User feedback drives script rating updates and escalation logic for continuous improvement</a:t>
            </a:r>
            <a:endParaRPr lang="en-US" sz="950" dirty="0"/>
          </a:p>
        </p:txBody>
      </p:sp>
      <p:sp>
        <p:nvSpPr>
          <p:cNvPr id="15" name="Text 9"/>
          <p:cNvSpPr/>
          <p:nvPr/>
        </p:nvSpPr>
        <p:spPr>
          <a:xfrm>
            <a:off x="427077" y="3798332"/>
            <a:ext cx="2346484" cy="228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Resolution Paths by Risk Level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427077" y="4149209"/>
            <a:ext cx="8146613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 Risk: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Automated script solutions with self-service steps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427077" y="4387096"/>
            <a:ext cx="8146613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Medium Risk: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Human resolver assignment for manual troubleshooting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427077" y="4624983"/>
            <a:ext cx="8146613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High Risk:</a:t>
            </a:r>
            <a:r>
              <a:rPr lang="en-US" sz="9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Supervisor dashboard routing for approval workflows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06239" y="800219"/>
            <a:ext cx="6624995" cy="553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Technical Stack &amp; Key Components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106239" y="1796296"/>
            <a:ext cx="2656642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Backend Architecture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6106239" y="230528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High-performance web server with async capabilities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106239" y="293393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LangGraph: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Workflow orchestration for multi-agent coordination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106239" y="356258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Azure OpenAI: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GPT-4o for NLP and semantic embeddings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106239" y="419123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JSON Storage: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Lightweight data persistence (database-ready)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281999" y="1796296"/>
            <a:ext cx="2656642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Frontend Interfaces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10281999" y="230528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Chat Interface: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Conversational ticket creation with AI assistant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281999" y="293393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 Portal: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High-risk ticket review with action modals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0281999" y="3562588"/>
            <a:ext cx="3736181" cy="56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b="1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Real-time Feedback:</a:t>
            </a: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Interactive rating and escalation system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06239" y="5107543"/>
            <a:ext cx="2487216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80%</a:t>
            </a:r>
            <a:endParaRPr lang="en-US" sz="4600" dirty="0"/>
          </a:p>
        </p:txBody>
      </p:sp>
      <p:sp>
        <p:nvSpPr>
          <p:cNvPr id="14" name="Text 11"/>
          <p:cNvSpPr/>
          <p:nvPr/>
        </p:nvSpPr>
        <p:spPr>
          <a:xfrm>
            <a:off x="6242923" y="5913120"/>
            <a:ext cx="221384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Automation Rate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106239" y="6295906"/>
            <a:ext cx="2487216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Tickets resolved without human intervention through intelligent routing and script availability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814792" y="5107543"/>
            <a:ext cx="2487216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3</a:t>
            </a:r>
            <a:endParaRPr lang="en-US" sz="4600" dirty="0"/>
          </a:p>
        </p:txBody>
      </p:sp>
      <p:sp>
        <p:nvSpPr>
          <p:cNvPr id="17" name="Text 14"/>
          <p:cNvSpPr/>
          <p:nvPr/>
        </p:nvSpPr>
        <p:spPr>
          <a:xfrm>
            <a:off x="8951476" y="5913120"/>
            <a:ext cx="221384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Agent Tiers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814792" y="6295906"/>
            <a:ext cx="2487216" cy="85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Risk-based routing system ensuring right-sized response for every ticket type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1523345" y="5107543"/>
            <a:ext cx="2487216" cy="584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100%</a:t>
            </a:r>
            <a:endParaRPr lang="en-US" sz="4600" dirty="0"/>
          </a:p>
        </p:txBody>
      </p:sp>
      <p:sp>
        <p:nvSpPr>
          <p:cNvPr id="20" name="Text 17"/>
          <p:cNvSpPr/>
          <p:nvPr/>
        </p:nvSpPr>
        <p:spPr>
          <a:xfrm>
            <a:off x="11660029" y="5913120"/>
            <a:ext cx="2213848" cy="276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Audit Coverage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1523345" y="6295906"/>
            <a:ext cx="2487216" cy="1133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3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Complete transparency with full history of actions, decisions, and supervisor approvals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7837"/>
            <a:ext cx="85800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Business Impact &amp; Future Roadmap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77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Efficiency Gains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667476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Instant classification eliminates manual categorization delays. Smart routing delivers tickets to the right resolver immediately based on skill and location matching.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235893" y="2177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Quality Improvements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35893" y="2667476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AI-driven risk assessment removes human bias while knowledge base integration ensures best practices. Script ratings enable continuous learning and optimization.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677995" y="2177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Governance &amp; Control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77995" y="2667476"/>
            <a:ext cx="415861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4372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Supervisor oversight protects critical operations with built-in authorization controls. Complete audit trails provide transparency for compliance and security reviews.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37140"/>
            <a:ext cx="13042821" cy="2704624"/>
          </a:xfrm>
          <a:prstGeom prst="roundRect">
            <a:avLst>
              <a:gd name="adj" fmla="val 3522"/>
            </a:avLst>
          </a:prstGeom>
          <a:solidFill>
            <a:srgbClr val="E1D4D0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5043011"/>
            <a:ext cx="425291" cy="34016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72709" y="5020628"/>
            <a:ext cx="4640699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Next-Generation Enhancements</a:t>
            </a:r>
            <a:endParaRPr lang="en-US" sz="2650" dirty="0"/>
          </a:p>
        </p:txBody>
      </p:sp>
      <p:sp>
        <p:nvSpPr>
          <p:cNvPr id="12" name="Text 9"/>
          <p:cNvSpPr/>
          <p:nvPr/>
        </p:nvSpPr>
        <p:spPr>
          <a:xfrm>
            <a:off x="1672709" y="5672733"/>
            <a:ext cx="1193708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431</Words>
  <Application>Microsoft Office PowerPoint</Application>
  <PresentationFormat>Custom</PresentationFormat>
  <Paragraphs>59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Calibri Light</vt:lpstr>
      <vt:lpstr>Crimson Pro Bold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Avanish Raj Singh</cp:lastModifiedBy>
  <cp:revision>4</cp:revision>
  <dcterms:created xsi:type="dcterms:W3CDTF">2025-10-05T10:56:27Z</dcterms:created>
  <dcterms:modified xsi:type="dcterms:W3CDTF">2025-10-05T11:19:26Z</dcterms:modified>
</cp:coreProperties>
</file>